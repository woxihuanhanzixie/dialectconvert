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bcb4e4a95b4a7a" /><Relationship Type="http://schemas.openxmlformats.org/officeDocument/2006/relationships/extended-properties" Target="/docProps/app.xml" Id="R9a472d11d023455a" /><Relationship Type="http://schemas.openxmlformats.org/officeDocument/2006/relationships/officeDocument" Target="/ppt/presentation.xml" Id="Red47f898ce1047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e487af987649da"/>
  </p:sldMasterIdLst>
  <p:notesMasterIdLst>
    <p:notesMasterId xmlns:r="http://schemas.openxmlformats.org/officeDocument/2006/relationships" r:id="Recd6a68fff264aa1"/>
  </p:notesMasterIdLst>
  <p:sldIdLst>
    <p:sldId xmlns:r="http://schemas.openxmlformats.org/officeDocument/2006/relationships" id="256" r:id="Rda97bc99773c43fb"/>
    <p:sldId xmlns:r="http://schemas.openxmlformats.org/officeDocument/2006/relationships" id="257" r:id="Rf5c2518ea8ea422e"/>
    <p:sldId xmlns:r="http://schemas.openxmlformats.org/officeDocument/2006/relationships" id="258" r:id="R37b083769d7c4854"/>
    <p:sldId xmlns:r="http://schemas.openxmlformats.org/officeDocument/2006/relationships" id="259" r:id="Ra85b6bf98c2a4cfc"/>
    <p:sldId xmlns:r="http://schemas.openxmlformats.org/officeDocument/2006/relationships" id="260" r:id="R9ff7e9cb62fc4144"/>
    <p:sldId xmlns:r="http://schemas.openxmlformats.org/officeDocument/2006/relationships" id="261" r:id="Ra1a040976f3347c1"/>
    <p:sldId xmlns:r="http://schemas.openxmlformats.org/officeDocument/2006/relationships" id="262" r:id="R0f9694dc4d7c40ad"/>
    <p:sldId xmlns:r="http://schemas.openxmlformats.org/officeDocument/2006/relationships" id="263" r:id="R661b861627de424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e487af987649da" /><Relationship Type="http://schemas.openxmlformats.org/officeDocument/2006/relationships/theme" Target="/ppt/theme/theme1.xml" Id="R64e248c2930649c9" /><Relationship Type="http://schemas.openxmlformats.org/officeDocument/2006/relationships/notesMaster" Target="/ppt/notesMasters/notesMaster1.xml" Id="Recd6a68fff264aa1" /><Relationship Type="http://schemas.openxmlformats.org/officeDocument/2006/relationships/presProps" Target="/ppt/presProps.xml" Id="R00dfc86ee0c246e8" /><Relationship Type="http://schemas.openxmlformats.org/officeDocument/2006/relationships/viewProps" Target="/ppt/viewProps.xml" Id="R82c3c9620d414ec9" /><Relationship Type="http://schemas.openxmlformats.org/officeDocument/2006/relationships/tableStyles" Target="/ppt/tableStyles.xml" Id="R0eae3f2fb25d4051" /><Relationship Type="http://schemas.openxmlformats.org/officeDocument/2006/relationships/slide" Target="/ppt/slides/slide1.xml" Id="Rda97bc99773c43fb" /><Relationship Type="http://schemas.openxmlformats.org/officeDocument/2006/relationships/slide" Target="/ppt/slides/slide2.xml" Id="Rf5c2518ea8ea422e" /><Relationship Type="http://schemas.openxmlformats.org/officeDocument/2006/relationships/slide" Target="/ppt/slides/slide3.xml" Id="R37b083769d7c4854" /><Relationship Type="http://schemas.openxmlformats.org/officeDocument/2006/relationships/slide" Target="/ppt/slides/slide4.xml" Id="Ra85b6bf98c2a4cfc" /><Relationship Type="http://schemas.openxmlformats.org/officeDocument/2006/relationships/slide" Target="/ppt/slides/slide5.xml" Id="R9ff7e9cb62fc4144" /><Relationship Type="http://schemas.openxmlformats.org/officeDocument/2006/relationships/slide" Target="/ppt/slides/slide6.xml" Id="Ra1a040976f3347c1" /><Relationship Type="http://schemas.openxmlformats.org/officeDocument/2006/relationships/slide" Target="/ppt/slides/slide7.xml" Id="R0f9694dc4d7c40ad" /><Relationship Type="http://schemas.openxmlformats.org/officeDocument/2006/relationships/slide" Target="/ppt/slides/slide8.xml" Id="R661b861627de42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4fc476cf9bd40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60737da8314d2d" /><Relationship Type="http://schemas.openxmlformats.org/officeDocument/2006/relationships/notesMaster" Target="/ppt/notesMasters/notesMaster1.xml" Id="R075860afac0348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e6bd6cdfd34bc0" /><Relationship Type="http://schemas.openxmlformats.org/officeDocument/2006/relationships/notesMaster" Target="/ppt/notesMasters/notesMaster1.xml" Id="R85425acc9aa34a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c04a58f9cd40e1" /><Relationship Type="http://schemas.openxmlformats.org/officeDocument/2006/relationships/notesMaster" Target="/ppt/notesMasters/notesMaster1.xml" Id="R603203e77cc64d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85d3d941a0486e" /><Relationship Type="http://schemas.openxmlformats.org/officeDocument/2006/relationships/notesMaster" Target="/ppt/notesMasters/notesMaster1.xml" Id="R45e739a0f36e49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9a152a16704ebc" /><Relationship Type="http://schemas.openxmlformats.org/officeDocument/2006/relationships/notesMaster" Target="/ppt/notesMasters/notesMaster1.xml" Id="R211968a558774d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ef93277ea244f3" /><Relationship Type="http://schemas.openxmlformats.org/officeDocument/2006/relationships/notesMaster" Target="/ppt/notesMasters/notesMaster1.xml" Id="Rb03406cf1c9747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dcb8ef83a747e7" /><Relationship Type="http://schemas.openxmlformats.org/officeDocument/2006/relationships/notesMaster" Target="/ppt/notesMasters/notesMaster1.xml" Id="Rb13f0dc6090242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cbb740778e4390" /><Relationship Type="http://schemas.openxmlformats.org/officeDocument/2006/relationships/notesMaster" Target="/ppt/notesMasters/notesMaster1.xml" Id="Rbc1681055f7b4f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cf7c02aa62452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f0b33036849490f" /><Relationship Type="http://schemas.openxmlformats.org/officeDocument/2006/relationships/slideLayout" Target="/ppt/slideLayouts/slideLayout2.xml" Id="R4b207a311e4948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207a311e4948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e14d5da39a41a0" /><Relationship Type="http://schemas.openxmlformats.org/officeDocument/2006/relationships/image" Target="/ppt/media/image.png" Id="Racea400d29fa4199" /><Relationship Type="http://schemas.openxmlformats.org/officeDocument/2006/relationships/notesSlide" Target="/ppt/notesSlides/notesSlide1.xml" Id="Rc0847cbebfa04e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50dc7fdfb84f9d" /><Relationship Type="http://schemas.openxmlformats.org/officeDocument/2006/relationships/notesSlide" Target="/ppt/notesSlides/notesSlide2.xml" Id="R155069c6fa4447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ac2143c5e94375" /><Relationship Type="http://schemas.openxmlformats.org/officeDocument/2006/relationships/notesSlide" Target="/ppt/notesSlides/notesSlide3.xml" Id="Rf4e2f10789eb4a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d6d939156b42eb" /><Relationship Type="http://schemas.openxmlformats.org/officeDocument/2006/relationships/notesSlide" Target="/ppt/notesSlides/notesSlide4.xml" Id="Rf8e405096c7443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de0f5744a5441b" /><Relationship Type="http://schemas.openxmlformats.org/officeDocument/2006/relationships/notesSlide" Target="/ppt/notesSlides/notesSlide5.xml" Id="R2bd7e68553e046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4e107615c84867" /><Relationship Type="http://schemas.openxmlformats.org/officeDocument/2006/relationships/notesSlide" Target="/ppt/notesSlides/notesSlide6.xml" Id="R53f70398374248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9c3211c26b41a7" /><Relationship Type="http://schemas.openxmlformats.org/officeDocument/2006/relationships/notesSlide" Target="/ppt/notesSlides/notesSlide7.xml" Id="Rca16f97ec82346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aa8f90463d43df" /><Relationship Type="http://schemas.openxmlformats.org/officeDocument/2006/relationships/image" Target="/ppt/media/image2.png" Id="Rf4740f465d354668" /><Relationship Type="http://schemas.openxmlformats.org/officeDocument/2006/relationships/notesSlide" Target="/ppt/notesSlides/notesSlide8.xml" Id="R9dc325429eb04c6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a400d29fa419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60C23-97A9-4662-B85E-6539006A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0">
              <a:alpha val="8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31DFE-E43A-410F-8C53-BEF5F230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10845-EFA1-40BA-B98F-954FC16F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191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5E9D0"/>
                </a:solidFill>
                <a:latin typeface="STKaiti"/>
                <a:ea typeface="STKaiti"/>
                <a:cs typeface="STKaiti"/>
              </a:defRPr>
            </a:pPr>
            <a:r>
              <a:rPr sz="4200" b="1">
                <a:solidFill>
                  <a:srgbClr val="F5E9D0"/>
                </a:solidFill>
                <a:latin typeface="STKaiti"/>
                <a:ea typeface="STKaiti"/>
                <a:cs typeface="STKaiti"/>
              </a:rPr>
              <a:t>声临其境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6EB68-6843-4772-B012-B3276888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AI 赋能的中国濒危方言数字化保护与传承平台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6E864-1094-4A0C-A77A-EAB7213F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BFADC-0E30-4AD5-BF20-62B85EF6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rPr>
              <a:t>让正在消失的乡音，在数字世界重新“活”过来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B66C5-1B0D-4987-9BF6-E6521E72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2455E-40AC-413F-BF83-AC405661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4582A-F288-49CD-855C-47F906F6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当前演示方言</a:t>
            </a:r>
          </a:p>
          <a:p xmlns:a="http://schemas.openxmlformats.org/drawingml/2006/main">
            <a:pPr algn="l">
              <a:defRPr sz="900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粤语 / 四川话 / 闽南语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820BC-9FA5-4CF5-9C7A-73FC8D3E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E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21DFC-0A17-4B57-8CAD-D75C8378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3340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46177-38A1-4DE5-B878-A35059C8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715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输入方式</a:t>
            </a:r>
          </a:p>
          <a:p xmlns:a="http://schemas.openxmlformats.org/drawingml/2006/main">
            <a:pPr algn="l">
              <a:defRPr sz="900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音频或文本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1EE3B-F46B-4ED4-AB22-23DE0991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5305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A5F82-3E11-42BA-975C-1BFB7247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340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6F94C-E957-4676-BE56-BD7C4856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715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主链路</a:t>
            </a:r>
          </a:p>
          <a:p xmlns:a="http://schemas.openxmlformats.org/drawingml/2006/main">
            <a:pPr algn="l">
              <a:defRPr sz="900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CosyVoice 实时输出</a:t>
            </a:r>
          </a:p>
        </p:txBody>
      </p:sp>
    </p:spTree>
    <p:extLst>
      <p:ext uri="{BB962C8B-B14F-4D97-AF65-F5344CB8AC3E}">
        <p14:creationId xmlns:p14="http://schemas.microsoft.com/office/powerpoint/2010/main" val="2750313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41D819-D93F-4E98-A53B-35AD852D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F4D50-829D-4F14-8A08-D022BF37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2288D-6A90-4CFA-8047-1431AB27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项目建设方案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A759A-DD8E-47D6-857E-A4C2B453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58F53-282E-47AE-8065-B169D6CF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rPr>
              <a:t>从“记录方言”升级为“让方言重新被使用”。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9EBD9-3B04-4747-8E23-2AB28582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方言保护的难点，不只是没有资料，而是年轻人缺少低门槛、可互动、可传播的使用场景。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71656-C6EC-4607-A945-6BF9F009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0096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B94F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09D7F-B9FC-4BD1-8708-95430C34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94F3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B94F3C"/>
                </a:solidFill>
                <a:latin typeface="Microsoft YaHei UI"/>
                <a:ea typeface="Microsoft YaHei UI"/>
                <a:cs typeface="Microsoft YaHei UI"/>
              </a:rPr>
              <a:t>痛点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7EFF1-8A4C-4BA0-BA1C-9A3361DC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3370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方言从日常交流退回家庭记忆，传统存档互动性不足。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C029E-C999-4C16-9408-087110DD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0096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5A7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A4EC0-DFA6-454F-8965-61ED2DCF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5A7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D5A75F"/>
                </a:solidFill>
                <a:latin typeface="Microsoft YaHei UI"/>
                <a:ea typeface="Microsoft YaHei UI"/>
                <a:cs typeface="Microsoft YaHei UI"/>
              </a:rPr>
              <a:t>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16584-9093-4BC7-804F-BD64BC78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6240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把普通话/文字输入变成可听的方言语音，让用户直接体验乡音。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F2DFA-539B-4181-8FD8-F4DAA2F6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10096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3E8E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DF962-E80D-47B9-96B3-C9A577F1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8E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3E8E8A"/>
                </a:solidFill>
                <a:latin typeface="Microsoft YaHei UI"/>
                <a:ea typeface="Microsoft YaHei UI"/>
                <a:cs typeface="Microsoft YaHei UI"/>
              </a:rPr>
              <a:t>落点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6C271-B524-46E1-AD06-E1FFFC40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9110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先做可演示的三方言语音工作台，再扩展方言树和文化知识库。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9096F-B412-4791-83B4-9D3C072E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3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5643CB-EFD0-416B-97EB-42810704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F8A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7F8A91"/>
                </a:solidFill>
                <a:latin typeface="Microsoft YaHei UI"/>
                <a:ea typeface="Microsoft YaHei UI"/>
                <a:cs typeface="Microsoft YaHei UI"/>
              </a:rPr>
              <a:t>汇报重点：建设方案要贴合当前可演示 Demo，不夸大未完成模块。</a:t>
            </a:r>
          </a:p>
        </p:txBody>
      </p:sp>
    </p:spTree>
    <p:extLst>
      <p:ext uri="{BB962C8B-B14F-4D97-AF65-F5344CB8AC3E}">
        <p14:creationId xmlns:p14="http://schemas.microsoft.com/office/powerpoint/2010/main" val="10446448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5E9B8C-00B7-421F-821B-28C39E8F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D9194-6FAB-405F-9D65-B2B136DB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9B733-DC64-423D-A938-857D8F85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当前 Demo 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1E8EE-C485-4217-B181-6E1149B3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3241D-69CE-4B17-8ABE-C934A893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rPr>
              <a:t>音频或文本输入，最终听到三种方言语音。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5BE47-D294-49D3-B3D1-5D05EDC7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923"/>
          </a:solidFill>
          <a:ln xmlns:a="http://schemas.openxmlformats.org/drawingml/2006/main" w="9525">
            <a:solidFill>
              <a:srgbClr val="D5A7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75648-AD33-449C-B8B3-F768D4A5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音频 / 文本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103EC-E50F-4B49-A008-FE26F775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上传、录音或直接输入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BFE08-DBBF-4995-9D6D-AC7E3970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480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BA8E7-04D3-4EA1-B950-05A43C29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003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A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60ACD-10CD-40BF-B2AF-9F58D8D6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6700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923"/>
          </a:solidFill>
          <a:ln xmlns:a="http://schemas.openxmlformats.org/drawingml/2006/main" w="9525">
            <a:solidFill>
              <a:srgbClr val="3E8E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5A3B8-003C-44EA-A201-8E893FC2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194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ASR / 清洗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4F0E3-2DB6-4A67-A38F-EAFBC9F8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051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语音转文字，文本整理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51477-0A5C-4C98-AA89-AA2D3723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480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DF826-3B73-4A12-B7CB-AB8856A4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03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A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A33917-F33B-4255-8234-9A49DF93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923"/>
          </a:solidFill>
          <a:ln xmlns:a="http://schemas.openxmlformats.org/drawingml/2006/main" w="9525">
            <a:solidFill>
              <a:srgbClr val="B94F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CFDC0D-FA0C-4540-A4DC-11FFBC90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CosyVoice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9178C-1460-441A-A186-93DED1F1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v3-flash 实时合成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1F03F-5C47-48FD-B057-0DFA338D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80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C284E6-4BC0-4572-9923-B98D2564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003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A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7CECD-19A4-41E0-8590-6015AC79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67000"/>
            <a:ext cx="200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923"/>
          </a:solidFill>
          <a:ln xmlns:a="http://schemas.openxmlformats.org/drawingml/2006/main" w="9525">
            <a:solidFill>
              <a:srgbClr val="3B6D8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0EAFE-E996-4FBD-9162-C33C1F7C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194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方言音频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B94D9-EC5D-4609-B929-A3BDFBE9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05150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网页实时播放或兜底输出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B3A279-F375-4A5E-B049-79434641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48150"/>
            <a:ext cx="1619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1A22"/>
          </a:solidFill>
          <a:ln xmlns:a="http://schemas.openxmlformats.org/drawingml/2006/main" w="9525">
            <a:solidFill>
              <a:srgbClr val="D5A7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2B7AF7-9EDF-4661-A596-AD755385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24350"/>
            <a:ext cx="1352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粤语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2A4C78-440E-49DA-BB48-4A353E3A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48150"/>
            <a:ext cx="1619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1A22"/>
          </a:solidFill>
          <a:ln xmlns:a="http://schemas.openxmlformats.org/drawingml/2006/main" w="9525">
            <a:solidFill>
              <a:srgbClr val="B94F3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9F002C-F6A0-43E6-B20E-6DF7A6FF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324350"/>
            <a:ext cx="1352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四川话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DA8133-2B1D-4CA1-B916-D93EAF7A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48150"/>
            <a:ext cx="1619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1A22"/>
          </a:solidFill>
          <a:ln xmlns:a="http://schemas.openxmlformats.org/drawingml/2006/main" w="9525">
            <a:solidFill>
              <a:srgbClr val="3B6D8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117568-A54F-49C6-9DFA-8CF82772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24350"/>
            <a:ext cx="1352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闽南语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300295-E43B-44E8-A2D6-22CFD396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95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当前主链路不等待旧的 Gold Teacher / OpenVoice / RVC。旧路线已归档，当前汇报统一讲 CosyVoice 公网版。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1F1993-3348-4869-B185-2540CAE4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3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A60D1D-417F-48E8-B3FF-BF57053B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F8A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7F8A91"/>
                </a:solidFill>
                <a:latin typeface="Microsoft YaHei UI"/>
                <a:ea typeface="Microsoft YaHei UI"/>
                <a:cs typeface="Microsoft YaHei UI"/>
              </a:rPr>
              <a:t>核心口径：音频 -&gt; ASR -&gt; CosyVoice；文本 -&gt; 清洗/可选 LLM -&gt; CosyVoice。</a:t>
            </a:r>
          </a:p>
        </p:txBody>
      </p:sp>
    </p:spTree>
    <p:extLst>
      <p:ext uri="{BB962C8B-B14F-4D97-AF65-F5344CB8AC3E}">
        <p14:creationId xmlns:p14="http://schemas.microsoft.com/office/powerpoint/2010/main" val="15892963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DC1205-9F73-4BBE-B6C3-CEA69F80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0B862-29B8-4889-A3D7-987C7A3D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A210C-453B-4BDC-9905-E175280E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技术实现路径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2CEF3-7AE2-472D-99CA-A44220A4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B714E-6AA9-4030-B2B6-529A1CD5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rPr>
              <a:t>四个模块保证“能听懂、能生成、能兜底”。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C99D8-82B3-455C-A4B4-E16AF211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476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5A7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3FB87-BB73-405C-98E4-5B9C4BB5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5A7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D5A75F"/>
                </a:solidFill>
                <a:latin typeface="Microsoft YaHei UI"/>
                <a:ea typeface="Microsoft YaHei UI"/>
                <a:cs typeface="Microsoft YaHei UI"/>
              </a:rPr>
              <a:t>ASR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D6A26-6186-4863-BB53-EC6D7959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把用户上传的普通话音频识别成文本。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788E2-F64A-44C7-B699-65C59E7C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4476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3E8E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DB090-27C6-4ADA-BE54-FF5C4CFF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E8E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3E8E8A"/>
                </a:solidFill>
                <a:latin typeface="Microsoft YaHei UI"/>
                <a:ea typeface="Microsoft YaHei UI"/>
                <a:cs typeface="Microsoft YaHei UI"/>
              </a:rPr>
              <a:t>文本清洗 / 可选 LLM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69D08-7E9C-4239-ABA6-2E07AFFC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去掉噪声字符和多余标点，必要时辅助语义整理。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76748-3897-4B75-BA49-840642E0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4476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5A7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28C59-CF69-4E60-8789-D1719EC2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5A7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D5A75F"/>
                </a:solidFill>
                <a:latin typeface="Microsoft YaHei UI"/>
                <a:ea typeface="Microsoft YaHei UI"/>
                <a:cs typeface="Microsoft YaHei UI"/>
              </a:rPr>
              <a:t>CosyVoice v3-flash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6175A-4C7E-4CDB-AC65-3B202FEB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当前主力语音生成模型，负责输出方言音频。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EBF7A-9CB2-4FE9-A9D8-B1BBF210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57600"/>
            <a:ext cx="4476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3E8E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C2422-BFCE-4C56-8425-58A200CC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862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E8E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3E8E8A"/>
                </a:solidFill>
                <a:latin typeface="Microsoft YaHei UI"/>
                <a:ea typeface="Microsoft YaHei UI"/>
                <a:cs typeface="Microsoft YaHei UI"/>
              </a:rPr>
              <a:t>兜底机制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7372F3-3455-4BED-8FA4-986077C4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862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实时链路失败时生成非实时音频，保证现场演示不断链。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DC6981-142A-4371-B9E2-5BE4B704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一句大白话：系统先把人说的话变成文字，再把文字变成目标方言的声音。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14AB3C-728D-4D5D-834C-04C5E10C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3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55C120-2CFC-4FA8-A875-8D7E9A2D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F8A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7F8A91"/>
                </a:solidFill>
                <a:latin typeface="Microsoft YaHei UI"/>
                <a:ea typeface="Microsoft YaHei UI"/>
                <a:cs typeface="Microsoft YaHei UI"/>
              </a:rPr>
              <a:t>不要把中间文本说成最终成果，最终用户听到的是 CosyVoice 输出。</a:t>
            </a:r>
          </a:p>
        </p:txBody>
      </p:sp>
    </p:spTree>
    <p:extLst>
      <p:ext uri="{BB962C8B-B14F-4D97-AF65-F5344CB8AC3E}">
        <p14:creationId xmlns:p14="http://schemas.microsoft.com/office/powerpoint/2010/main" val="12978448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AEEABB-10CE-44BC-B245-9D70E391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9453D-2BE8-435B-8588-4511B0A8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1D1D8-7DAF-470D-ACEE-38BBF74C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网页功能展示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9B9AF-4774-471B-99F4-4469F9A6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1F215-636D-4F47-9D46-9DDC0FFF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rPr>
              <a:t>不是宣传页，而是可操作的方言语音工作台。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7166C-7F5C-49E5-83E2-7A06BFA2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40957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5A7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AFCEA-51FC-4581-B608-7799EE51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5A7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D5A75F"/>
                </a:solidFill>
                <a:latin typeface="Microsoft YaHei UI"/>
                <a:ea typeface="Microsoft YaHei UI"/>
                <a:cs typeface="Microsoft YaHei UI"/>
              </a:rPr>
              <a:t>输入区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932AE-6645-42DA-9E8F-EF4B15C7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A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A1442-8092-42DB-93D6-661AA32C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860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主音频上传 / 手机录音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84515-E787-4EB6-A9AA-6E89EED5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60A49-E672-4CEC-BAB2-5807CB3A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385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音色参考音频上传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2FDB6-2166-459C-A385-54E62AD8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A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339C5-4C3A-4E8E-A5A7-8C395215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909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文字直接输入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AD1698-C028-4ACE-8DFF-9102FB36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78257-44D4-497F-9E75-EFE3D10C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选择粤语、四川话、闽南语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274E20-FC86-40C7-8C7E-C23888CA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752600"/>
            <a:ext cx="53340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3E8E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C4EE4-7762-480A-9954-06566ED0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E8E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3E8E8A"/>
                </a:solidFill>
                <a:latin typeface="Microsoft YaHei UI"/>
                <a:ea typeface="Microsoft YaHei UI"/>
                <a:cs typeface="Microsoft YaHei UI"/>
              </a:rPr>
              <a:t>输出区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A61675-EE69-4FCB-92A6-50D5ED33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5E1608-206C-4A49-9DF3-64931B5D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CosyVoice 方言实时音频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DC7979-8FAC-4047-9A93-753EE060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76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A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BC673F-28E2-4121-88B9-78EF8E80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推荐主输出、总耗时、Trace 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AC2DBA-4DBD-4DAB-B5CD-CBDCEEC6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29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FEA73C-0B53-4BF3-81E1-02D09FEB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实时失败后自动走非实时兜底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F3E5D1-C187-4242-AF00-92AB5C40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81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A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AA7AD0-EFE3-476C-ABAC-448B576C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RAG 指标与文化百科展示预留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B0B277-D79E-48F0-82F3-E98F135B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3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5AD0B0-0980-4DBE-BC3F-3040DD39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F8A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7F8A91"/>
                </a:solidFill>
                <a:latin typeface="Microsoft YaHei UI"/>
                <a:ea typeface="Microsoft YaHei UI"/>
                <a:cs typeface="Microsoft YaHei UI"/>
              </a:rPr>
              <a:t>页面文件：FireRedASR2S/public_web/index.html + app.js + styles.css。</a:t>
            </a:r>
          </a:p>
        </p:txBody>
      </p:sp>
    </p:spTree>
    <p:extLst>
      <p:ext uri="{BB962C8B-B14F-4D97-AF65-F5344CB8AC3E}">
        <p14:creationId xmlns:p14="http://schemas.microsoft.com/office/powerpoint/2010/main" val="8676762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04D990-9DD6-4DE3-82E4-682D9CA7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F655D-8FEC-467B-BBF6-FCDBE9C9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6F767-5BE4-4D27-8A09-88F7B669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特色与创新点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73F38-B22C-417E-9F05-6034A999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F932D-D41D-489B-A006-25FC73FF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rPr>
              <a:t>创新点在于把方言变成可听、可玩、可传播的体验。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DD86D-B5A4-4ACE-A9B8-DB691B7A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5A7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D5A75F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0CCAA-449B-417B-BA8C-BA4FCA09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28825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CD041-4E9A-4066-8807-56832DBA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478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rPr>
              <a:t>从文字到声音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764BA-8999-4B21-87AC-CCA25E23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不只展示方言文本，而是直接生成可播放的方言语音。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F881C-D1B3-481B-A510-B19F2B9F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E8E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3E8E8A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0D476-35A9-4B47-BEBA-F9D83F00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62275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E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4FB7D-0902-4342-8383-B9F032B8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813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rPr>
              <a:t>从单一路线到稳定演示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7C9B9-2841-413B-B0A2-6F5F1BBF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194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实时链路优先，失败后自动兜底，适合现场答辩。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7EB0D-86CD-467B-BE41-6219BBF7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5A7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D5A75F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A4C15-2E2C-43B2-8201-00BED3EB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95725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4ADC97-EAD7-41AA-8D82-ECEF06BA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rPr>
              <a:t>从技术 Demo 到文化表达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B879E0-7602-45C3-AB17-754AE871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52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文化百科、RAG 看板、方言树等方向为后续积累数据。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CC4D7-F800-475B-85DB-C99C7474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E8E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3E8E8A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5B92C-A247-4A22-8CEC-7BA683CF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29175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E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81481-40ED-4EC6-8BC6-E3867475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482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rPr>
              <a:t>从单方言到多方言扩展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7147A-1E21-4CDB-96F1-7977B73E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863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当前覆盖粤语、四川话、闽南语，接口可继续扩展。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2F617C-D082-4085-9100-F6187115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3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E9694-402A-44AC-9160-E6883C81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F8A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7F8A91"/>
                </a:solidFill>
                <a:latin typeface="Microsoft YaHei UI"/>
                <a:ea typeface="Microsoft YaHei UI"/>
                <a:cs typeface="Microsoft YaHei UI"/>
              </a:rPr>
              <a:t>汇报中将旧路线称为“早期探索”，避免和当前成果混淆。</a:t>
            </a:r>
          </a:p>
        </p:txBody>
      </p:sp>
    </p:spTree>
    <p:extLst>
      <p:ext uri="{BB962C8B-B14F-4D97-AF65-F5344CB8AC3E}">
        <p14:creationId xmlns:p14="http://schemas.microsoft.com/office/powerpoint/2010/main" val="17264315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CB81A2-C28E-4510-9C10-4E3320A4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43840-1D6B-492F-AE78-10D521E6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AF8AE-E576-4C6D-B1A9-E6481FFB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预期成效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93133-B9C8-4DDF-8CAF-DDD7AFBC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3ECBB-EFB7-44D3-BDC0-C88E578A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rPr>
              <a:t>短期可展示，中期可传播，长期可沉淀。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52DC8-3A17-40EF-BA0F-84D6EF67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952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5A7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03A1D-0AC6-4C10-9208-F0AFF166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5A7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D5A75F"/>
                </a:solidFill>
                <a:latin typeface="Microsoft YaHei UI"/>
                <a:ea typeface="Microsoft YaHei UI"/>
                <a:cs typeface="Microsoft YaHei UI"/>
              </a:rPr>
              <a:t>短期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9F542-CA7A-405D-AEB1-2C557BF5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1470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形成稳定可演示 Demo，用于初赛答辩和现场播放。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03D4D-2753-4DE3-ABE1-DC63C429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90750"/>
            <a:ext cx="2952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3E8E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221EC-FFD7-4887-B221-FECFBDB2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717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E8E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3E8E8A"/>
                </a:solidFill>
                <a:latin typeface="Microsoft YaHei UI"/>
                <a:ea typeface="Microsoft YaHei UI"/>
                <a:cs typeface="Microsoft YaHei UI"/>
              </a:rPr>
              <a:t>中期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D8E78-76D5-465F-AFD1-B98FD372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1470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进入校园方言配音、同乡文化展示、乡音播报等活动。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B82F1-B4B0-41A3-922D-9E976D6C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2952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B94F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88E69-EF78-44A7-A1E9-B79F1292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94F3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B94F3C"/>
                </a:solidFill>
                <a:latin typeface="Microsoft YaHei UI"/>
                <a:ea typeface="Microsoft YaHei UI"/>
                <a:cs typeface="Microsoft YaHei UI"/>
              </a:rPr>
              <a:t>长期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0A9689-3FC1-4892-9B3E-78443435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沉淀方言语料和文化解释，扩展方言树、乡音地图、适老陪伴。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7A9C4-E45E-4234-8EA2-1A32980E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91150"/>
            <a:ext cx="742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0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最终目标：让方言保护从“静态存档”走向“活态传承”。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D4309-7ED8-4853-AA0E-AB1A0CD9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3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E28C0-AF52-4DA1-837D-AE4747A4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F8A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7F8A91"/>
                </a:solidFill>
                <a:latin typeface="Microsoft YaHei UI"/>
                <a:ea typeface="Microsoft YaHei UI"/>
                <a:cs typeface="Microsoft YaHei UI"/>
              </a:rPr>
              <a:t>当前已完成三方言语音 Demo，后续扩展方向不冒充已上线成果。</a:t>
            </a:r>
          </a:p>
        </p:txBody>
      </p:sp>
    </p:spTree>
    <p:extLst>
      <p:ext uri="{BB962C8B-B14F-4D97-AF65-F5344CB8AC3E}">
        <p14:creationId xmlns:p14="http://schemas.microsoft.com/office/powerpoint/2010/main" val="7896373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40f465d35466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7ECDA-12C5-4EC1-A16D-429784D7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0">
              <a:alpha val="8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AE4C3-FC57-4AB2-866C-7192C518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BCD5D-54E4-4FDA-942A-FE5C71CA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>
                <a:solidFill>
                  <a:srgbClr val="F5E9D0"/>
                </a:solidFill>
                <a:latin typeface="Microsoft YaHei UI"/>
                <a:ea typeface="Microsoft YaHei UI"/>
                <a:cs typeface="Microsoft YaHei UI"/>
              </a:rPr>
              <a:t>总结与展望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55B97-E380-4BB7-9C95-56EFE58B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用 AI 降低方言表达门槛，让年轻人愿意听、愿意玩、愿意传播家乡话。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6807F-A68A-4831-9908-BA51146C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70401-1FDA-4E09-AA22-A887B371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5334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当前：CosyVoice 三方言实时 Demo</a:t>
            </a:r>
          </a:p>
          <a:p xmlns:a="http://schemas.openxmlformats.org/drawingml/2006/main">
            <a:pPr algn="l">
              <a:defRPr sz="1425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BCA883"/>
                </a:solidFill>
                <a:latin typeface="Microsoft YaHei UI"/>
                <a:ea typeface="Microsoft YaHei UI"/>
                <a:cs typeface="Microsoft YaHei UI"/>
              </a:rPr>
              <a:t>下一步：更多方言、知识库、方言树、数字人联动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DE976-D1C5-440F-9430-41224825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1143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1A22"/>
          </a:solidFill>
          <a:ln xmlns:a="http://schemas.openxmlformats.org/drawingml/2006/main" w="9525">
            <a:solidFill>
              <a:srgbClr val="D5A7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C49E4-01C4-40F4-8A06-7092A697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578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建设方案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99863-D39B-4ED8-8DD8-FB3DDEBC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8165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1A22"/>
          </a:solidFill>
          <a:ln xmlns:a="http://schemas.openxmlformats.org/drawingml/2006/main" w="9525">
            <a:solidFill>
              <a:srgbClr val="3E8E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7635A-C060-4437-8670-BA087206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578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创新点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68DE2-E723-412A-A3A9-3EAEE6AA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581650"/>
            <a:ext cx="1143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1A22"/>
          </a:solidFill>
          <a:ln xmlns:a="http://schemas.openxmlformats.org/drawingml/2006/main" w="9525">
            <a:solidFill>
              <a:srgbClr val="B94F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CD084-3383-442D-9850-95126AEE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6578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预期成效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CE080-456D-46AC-8E74-9DCDA5D3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81650"/>
            <a:ext cx="857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1A22"/>
          </a:solidFill>
          <a:ln xmlns:a="http://schemas.openxmlformats.org/drawingml/2006/main" w="9525">
            <a:solidFill>
              <a:srgbClr val="3B6D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46C5D-EB4F-46FD-98F6-AD3591D8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65785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6F2E8"/>
                </a:solidFill>
                <a:latin typeface="Microsoft YaHei UI"/>
                <a:ea typeface="Microsoft YaHei UI"/>
                <a:cs typeface="Microsoft YaHei UI"/>
              </a:rPr>
              <a:t>展望</a:t>
            </a:r>
          </a:p>
        </p:txBody>
      </p:sp>
    </p:spTree>
    <p:extLst>
      <p:ext uri="{BB962C8B-B14F-4D97-AF65-F5344CB8AC3E}">
        <p14:creationId xmlns:p14="http://schemas.microsoft.com/office/powerpoint/2010/main" val="2080696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2026-05-14T04:41:31.3260000Z</dcterms:created>
  <dcterms:modified xsi:type="dcterms:W3CDTF">2026-05-14T04:41:31.3260000Z</dcterms:modified>
</coreProperties>
</file>